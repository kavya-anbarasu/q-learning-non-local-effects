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b6fb5e3e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db6fb5e3e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50">
                <a:solidFill>
                  <a:schemeClr val="dk1"/>
                </a:solidFill>
                <a:highlight>
                  <a:srgbClr val="FFFFFF"/>
                </a:highlight>
              </a:rPr>
              <a:t>We’re investigating how updates for deep Q networks for some state-action pairs change the Q-</a:t>
            </a:r>
            <a:r>
              <a:rPr lang="en" sz="850">
                <a:solidFill>
                  <a:schemeClr val="dk1"/>
                </a:solidFill>
                <a:highlight>
                  <a:srgbClr val="FFFFFF"/>
                </a:highlight>
              </a:rPr>
              <a:t>values</a:t>
            </a:r>
            <a:r>
              <a:rPr lang="en" sz="850">
                <a:solidFill>
                  <a:schemeClr val="dk1"/>
                </a:solidFill>
                <a:highlight>
                  <a:srgbClr val="FFFFFF"/>
                </a:highlight>
              </a:rPr>
              <a:t> for other pairs. To do this, we start with a Tabular Q-learning approach to give us a baseline for rest of our experiments. For our project, we are investigating various parameter changes including…</a:t>
            </a:r>
            <a:endParaRPr sz="850">
              <a:solidFill>
                <a:schemeClr val="dk1"/>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b6fb5e3e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b6fb5e3e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OpenAI's gym FrozenLake-v1, a sparse reward environment, which is an 8x8 grid consisting of 64 states and 4 possible actions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answer our question of whether parameter changes affect distant states, we record two distinct metrics separately for in-batch and out-of-batch state-action pairs during training. </a:t>
            </a:r>
            <a:r>
              <a:rPr lang="en"/>
              <a:t>First, we record the mean absolute error (MAE) between Q-values before and after a gradient update step. This metric aims to determine if there are differences in the magnitude of Q-value updates for in-batch and out-of-batch state-action pairs.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we compute the optimality of Q-value changes made by the DQN agent for in-batch and out-of-batch (state, action) pairs, assessing the cosine similarity between the actual update directions of state-action pairs and the theoretically optimal update directions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db6fb5e3e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db6fb5e3e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In tabular Q-learning, each state-action pair has its own Q-value that is based on immediate rewards and the Q-values of next states. There are no non-local effects because Q-values are updated independently for each state-action pair. As a baseline, when initializing the q-values to zero, the average change in q-value for each state throughout a run ranges from 0 to 7e-5, while the q-values approach 1.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b6fb5e3e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b6fb5e3e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Decreased batch size to 32, 1, decreased replay buffer to 128, 32 to match batch size</a:t>
            </a:r>
            <a:endParaRPr/>
          </a:p>
          <a:p>
            <a:pPr indent="0" lvl="0" marL="0" rtl="0" algn="l">
              <a:spcBef>
                <a:spcPts val="0"/>
              </a:spcBef>
              <a:spcAft>
                <a:spcPts val="0"/>
              </a:spcAft>
              <a:buNone/>
            </a:pPr>
            <a:r>
              <a:rPr lang="en"/>
              <a:t>observe minimal changes in mae </a:t>
            </a:r>
            <a:endParaRPr/>
          </a:p>
          <a:p>
            <a:pPr indent="0" lvl="0" marL="0" rtl="0" algn="l">
              <a:spcBef>
                <a:spcPts val="0"/>
              </a:spcBef>
              <a:spcAft>
                <a:spcPts val="0"/>
              </a:spcAft>
              <a:buNone/>
            </a:pPr>
            <a:r>
              <a:rPr lang="en"/>
              <a:t>Batch size 1: high variance in gradient estimates</a:t>
            </a:r>
            <a:endParaRPr/>
          </a:p>
          <a:p>
            <a:pPr indent="0" lvl="0" marL="0" rtl="0" algn="l">
              <a:spcBef>
                <a:spcPts val="0"/>
              </a:spcBef>
              <a:spcAft>
                <a:spcPts val="0"/>
              </a:spcAft>
              <a:buNone/>
            </a:pPr>
            <a:r>
              <a:rPr lang="en"/>
              <a:t>batch size more of an effect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b6fb5e3e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b6fb5e3e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db6fb5e3e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db6fb5e3e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db6fb5e3e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db6fb5e3e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found similar in-batch and out-of-batch Q-value changes in DQN with activation function and state representation contributing the most. In the future, we recommend improving upon the metrics used to evaluate these locality effects by exploring the theory behind parameter changes in deep q-learning.</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Exploring Non-Local Effects Of Parameter Updates in Deep Q-Learning</a:t>
            </a:r>
            <a:endParaRPr sz="36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6.8200</a:t>
            </a:r>
            <a:endParaRPr sz="2400"/>
          </a:p>
        </p:txBody>
      </p:sp>
      <p:sp>
        <p:nvSpPr>
          <p:cNvPr id="56" name="Google Shape;56;p13"/>
          <p:cNvSpPr txBox="1"/>
          <p:nvPr/>
        </p:nvSpPr>
        <p:spPr>
          <a:xfrm>
            <a:off x="967150" y="3549900"/>
            <a:ext cx="3176100" cy="86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Kavya Anbarasu</a:t>
            </a:r>
            <a:endParaRPr sz="1800">
              <a:solidFill>
                <a:schemeClr val="dk2"/>
              </a:solidFill>
            </a:endParaRPr>
          </a:p>
          <a:p>
            <a:pPr indent="0" lvl="0" marL="0" rtl="0" algn="ctr">
              <a:spcBef>
                <a:spcPts val="1000"/>
              </a:spcBef>
              <a:spcAft>
                <a:spcPts val="1000"/>
              </a:spcAft>
              <a:buNone/>
            </a:pPr>
            <a:r>
              <a:rPr lang="en" sz="1800">
                <a:solidFill>
                  <a:schemeClr val="dk2"/>
                </a:solidFill>
              </a:rPr>
              <a:t>Carol Jiang</a:t>
            </a:r>
            <a:endParaRPr sz="1800">
              <a:solidFill>
                <a:schemeClr val="dk2"/>
              </a:solidFill>
            </a:endParaRPr>
          </a:p>
        </p:txBody>
      </p:sp>
      <p:sp>
        <p:nvSpPr>
          <p:cNvPr id="57" name="Google Shape;57;p13"/>
          <p:cNvSpPr txBox="1"/>
          <p:nvPr/>
        </p:nvSpPr>
        <p:spPr>
          <a:xfrm>
            <a:off x="4572000" y="3549900"/>
            <a:ext cx="3176100" cy="86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Puja Balaji</a:t>
            </a:r>
            <a:endParaRPr sz="1800">
              <a:solidFill>
                <a:schemeClr val="dk2"/>
              </a:solidFill>
            </a:endParaRPr>
          </a:p>
          <a:p>
            <a:pPr indent="0" lvl="0" marL="0" rtl="0" algn="ctr">
              <a:spcBef>
                <a:spcPts val="1000"/>
              </a:spcBef>
              <a:spcAft>
                <a:spcPts val="1000"/>
              </a:spcAft>
              <a:buNone/>
            </a:pPr>
            <a:r>
              <a:rPr lang="en" sz="1800">
                <a:solidFill>
                  <a:schemeClr val="dk2"/>
                </a:solidFill>
              </a:rPr>
              <a:t>Kairo Morton</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investigate how deep Q-network updates for some state-action pairs change Q-values for other state-action pairs</a:t>
            </a:r>
            <a:endParaRPr/>
          </a:p>
          <a:p>
            <a:pPr indent="-342900" lvl="0" marL="457200" rtl="0" algn="l">
              <a:spcBef>
                <a:spcPts val="1000"/>
              </a:spcBef>
              <a:spcAft>
                <a:spcPts val="0"/>
              </a:spcAft>
              <a:buSzPts val="1800"/>
              <a:buChar char="-"/>
            </a:pPr>
            <a:r>
              <a:rPr lang="en"/>
              <a:t>parameter changes:</a:t>
            </a:r>
            <a:endParaRPr/>
          </a:p>
          <a:p>
            <a:pPr indent="-317500" lvl="1" marL="914400" rtl="0" algn="l">
              <a:spcBef>
                <a:spcPts val="0"/>
              </a:spcBef>
              <a:spcAft>
                <a:spcPts val="0"/>
              </a:spcAft>
              <a:buSzPts val="1400"/>
              <a:buChar char="-"/>
            </a:pPr>
            <a:r>
              <a:rPr lang="en"/>
              <a:t>activation function (ReLU)</a:t>
            </a:r>
            <a:endParaRPr/>
          </a:p>
          <a:p>
            <a:pPr indent="-317500" lvl="1" marL="914400" rtl="0" algn="l">
              <a:spcBef>
                <a:spcPts val="0"/>
              </a:spcBef>
              <a:spcAft>
                <a:spcPts val="0"/>
              </a:spcAft>
              <a:buSzPts val="1400"/>
              <a:buChar char="-"/>
            </a:pPr>
            <a:r>
              <a:rPr lang="en"/>
              <a:t>state representation (one-hot)</a:t>
            </a:r>
            <a:endParaRPr/>
          </a:p>
          <a:p>
            <a:pPr indent="-317500" lvl="1" marL="914400" rtl="0" algn="l">
              <a:spcBef>
                <a:spcPts val="0"/>
              </a:spcBef>
              <a:spcAft>
                <a:spcPts val="0"/>
              </a:spcAft>
              <a:buSzPts val="1400"/>
              <a:buChar char="-"/>
            </a:pPr>
            <a:r>
              <a:rPr lang="en"/>
              <a:t>replay buffer (10000) and batch size (128)</a:t>
            </a:r>
            <a:endParaRPr/>
          </a:p>
        </p:txBody>
      </p:sp>
      <p:pic>
        <p:nvPicPr>
          <p:cNvPr id="64" name="Google Shape;64;p14"/>
          <p:cNvPicPr preferRelativeResize="0"/>
          <p:nvPr/>
        </p:nvPicPr>
        <p:blipFill>
          <a:blip r:embed="rId3">
            <a:alphaModFix/>
          </a:blip>
          <a:stretch>
            <a:fillRect/>
          </a:stretch>
        </p:blipFill>
        <p:spPr>
          <a:xfrm>
            <a:off x="1262650" y="3582400"/>
            <a:ext cx="6618700" cy="8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Setup</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000"/>
              </a:spcBef>
              <a:spcAft>
                <a:spcPts val="0"/>
              </a:spcAft>
              <a:buSzPts val="1800"/>
              <a:buChar char="-"/>
            </a:pPr>
            <a:r>
              <a:rPr lang="en"/>
              <a:t>OpenAI's FrozenLake-v1 environment (8x8)</a:t>
            </a:r>
            <a:endParaRPr/>
          </a:p>
          <a:p>
            <a:pPr indent="-342900" lvl="0" marL="457200" rtl="0" algn="l">
              <a:spcBef>
                <a:spcPts val="1200"/>
              </a:spcBef>
              <a:spcAft>
                <a:spcPts val="0"/>
              </a:spcAft>
              <a:buSzPts val="1800"/>
              <a:buChar char="-"/>
            </a:pPr>
            <a:r>
              <a:rPr lang="en"/>
              <a:t>baseline experiments</a:t>
            </a:r>
            <a:endParaRPr/>
          </a:p>
          <a:p>
            <a:pPr indent="-317500" lvl="1" marL="914400" rtl="0" algn="l">
              <a:spcBef>
                <a:spcPts val="0"/>
              </a:spcBef>
              <a:spcAft>
                <a:spcPts val="0"/>
              </a:spcAft>
              <a:buSzPts val="1400"/>
              <a:buChar char="-"/>
            </a:pPr>
            <a:r>
              <a:rPr lang="en"/>
              <a:t>tabular Q-learning </a:t>
            </a:r>
            <a:endParaRPr/>
          </a:p>
          <a:p>
            <a:pPr indent="-317500" lvl="1" marL="914400" rtl="0" algn="l">
              <a:spcBef>
                <a:spcPts val="0"/>
              </a:spcBef>
              <a:spcAft>
                <a:spcPts val="0"/>
              </a:spcAft>
              <a:buSzPts val="1400"/>
              <a:buChar char="-"/>
            </a:pPr>
            <a:r>
              <a:rPr lang="en"/>
              <a:t>deep Q-learning (ReLU, one-hot state, 10k buffer size, 128 batch)</a:t>
            </a:r>
            <a:endParaRPr/>
          </a:p>
          <a:p>
            <a:pPr indent="-342900" lvl="0" marL="457200" rtl="0" algn="l">
              <a:spcBef>
                <a:spcPts val="1000"/>
              </a:spcBef>
              <a:spcAft>
                <a:spcPts val="0"/>
              </a:spcAft>
              <a:buSzPts val="1800"/>
              <a:buChar char="-"/>
            </a:pPr>
            <a:r>
              <a:rPr lang="en"/>
              <a:t>metrics:</a:t>
            </a:r>
            <a:endParaRPr/>
          </a:p>
          <a:p>
            <a:pPr indent="-317500" lvl="1" marL="914400" rtl="0" algn="l">
              <a:spcBef>
                <a:spcPts val="0"/>
              </a:spcBef>
              <a:spcAft>
                <a:spcPts val="0"/>
              </a:spcAft>
              <a:buSzPts val="1400"/>
              <a:buChar char="-"/>
            </a:pPr>
            <a:r>
              <a:rPr lang="en"/>
              <a:t>mean absolute error (MAE) of Q-values </a:t>
            </a:r>
            <a:r>
              <a:rPr lang="en"/>
              <a:t>pre- and post-update</a:t>
            </a:r>
            <a:endParaRPr/>
          </a:p>
          <a:p>
            <a:pPr indent="0" lvl="0" marL="0" rtl="0" algn="l">
              <a:spcBef>
                <a:spcPts val="1200"/>
              </a:spcBef>
              <a:spcAft>
                <a:spcPts val="0"/>
              </a:spcAft>
              <a:buNone/>
            </a:pPr>
            <a:r>
              <a:t/>
            </a:r>
            <a:endParaRPr/>
          </a:p>
          <a:p>
            <a:pPr indent="-317500" lvl="1" marL="914400" rtl="0" algn="l">
              <a:spcBef>
                <a:spcPts val="1200"/>
              </a:spcBef>
              <a:spcAft>
                <a:spcPts val="0"/>
              </a:spcAft>
              <a:buSzPts val="1400"/>
              <a:buChar char="-"/>
            </a:pPr>
            <a:r>
              <a:rPr lang="en"/>
              <a:t>optimality score (OS) for update directions</a:t>
            </a:r>
            <a:endParaRPr/>
          </a:p>
        </p:txBody>
      </p:sp>
      <p:pic>
        <p:nvPicPr>
          <p:cNvPr id="71" name="Google Shape;71;p15"/>
          <p:cNvPicPr preferRelativeResize="0"/>
          <p:nvPr/>
        </p:nvPicPr>
        <p:blipFill rotWithShape="1">
          <a:blip r:embed="rId3">
            <a:alphaModFix/>
          </a:blip>
          <a:srcRect b="0" l="0" r="0" t="11024"/>
          <a:stretch/>
        </p:blipFill>
        <p:spPr>
          <a:xfrm>
            <a:off x="2581275" y="3176225"/>
            <a:ext cx="3981450" cy="627150"/>
          </a:xfrm>
          <a:prstGeom prst="rect">
            <a:avLst/>
          </a:prstGeom>
          <a:noFill/>
          <a:ln>
            <a:noFill/>
          </a:ln>
        </p:spPr>
      </p:pic>
      <p:pic>
        <p:nvPicPr>
          <p:cNvPr id="72" name="Google Shape;72;p15"/>
          <p:cNvPicPr preferRelativeResize="0"/>
          <p:nvPr/>
        </p:nvPicPr>
        <p:blipFill rotWithShape="1">
          <a:blip r:embed="rId4">
            <a:alphaModFix/>
          </a:blip>
          <a:srcRect b="17753" l="0" r="0" t="13144"/>
          <a:stretch/>
        </p:blipFill>
        <p:spPr>
          <a:xfrm>
            <a:off x="1809750" y="4055450"/>
            <a:ext cx="5524500" cy="513425"/>
          </a:xfrm>
          <a:prstGeom prst="rect">
            <a:avLst/>
          </a:prstGeom>
          <a:noFill/>
          <a:ln>
            <a:noFill/>
          </a:ln>
        </p:spPr>
      </p:pic>
      <p:pic>
        <p:nvPicPr>
          <p:cNvPr id="73" name="Google Shape;73;p15"/>
          <p:cNvPicPr preferRelativeResize="0"/>
          <p:nvPr/>
        </p:nvPicPr>
        <p:blipFill>
          <a:blip r:embed="rId5">
            <a:alphaModFix/>
          </a:blip>
          <a:stretch>
            <a:fillRect/>
          </a:stretch>
        </p:blipFill>
        <p:spPr>
          <a:xfrm>
            <a:off x="6793725" y="947750"/>
            <a:ext cx="1743075" cy="1743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Tabular Q-learning (init_q_val=0)</a:t>
            </a:r>
            <a:endParaRPr/>
          </a:p>
        </p:txBody>
      </p:sp>
      <p:pic>
        <p:nvPicPr>
          <p:cNvPr id="79" name="Google Shape;79;p16"/>
          <p:cNvPicPr preferRelativeResize="0"/>
          <p:nvPr/>
        </p:nvPicPr>
        <p:blipFill>
          <a:blip r:embed="rId3">
            <a:alphaModFix/>
          </a:blip>
          <a:stretch>
            <a:fillRect/>
          </a:stretch>
        </p:blipFill>
        <p:spPr>
          <a:xfrm>
            <a:off x="2283025" y="1148338"/>
            <a:ext cx="4339224" cy="2846825"/>
          </a:xfrm>
          <a:prstGeom prst="rect">
            <a:avLst/>
          </a:prstGeom>
          <a:noFill/>
          <a:ln>
            <a:noFill/>
          </a:ln>
        </p:spPr>
      </p:pic>
      <p:sp>
        <p:nvSpPr>
          <p:cNvPr id="80" name="Google Shape;80;p16"/>
          <p:cNvSpPr txBox="1"/>
          <p:nvPr/>
        </p:nvSpPr>
        <p:spPr>
          <a:xfrm>
            <a:off x="2402400" y="4176575"/>
            <a:ext cx="4339200" cy="50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No local or non-local effects in tabular setting</a:t>
            </a:r>
            <a:endParaRPr sz="16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Replay buffer/batch size</a:t>
            </a:r>
            <a:endParaRPr/>
          </a:p>
        </p:txBody>
      </p:sp>
      <p:sp>
        <p:nvSpPr>
          <p:cNvPr id="86" name="Google Shape;86;p17"/>
          <p:cNvSpPr/>
          <p:nvPr/>
        </p:nvSpPr>
        <p:spPr>
          <a:xfrm>
            <a:off x="2372475" y="2185625"/>
            <a:ext cx="3661200" cy="17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 name="Google Shape;87;p17"/>
          <p:cNvPicPr preferRelativeResize="0"/>
          <p:nvPr/>
        </p:nvPicPr>
        <p:blipFill>
          <a:blip r:embed="rId3">
            <a:alphaModFix/>
          </a:blip>
          <a:stretch>
            <a:fillRect/>
          </a:stretch>
        </p:blipFill>
        <p:spPr>
          <a:xfrm>
            <a:off x="1726225" y="1289375"/>
            <a:ext cx="5691549" cy="3437950"/>
          </a:xfrm>
          <a:prstGeom prst="rect">
            <a:avLst/>
          </a:prstGeom>
          <a:noFill/>
          <a:ln>
            <a:noFill/>
          </a:ln>
        </p:spPr>
      </p:pic>
      <p:sp>
        <p:nvSpPr>
          <p:cNvPr id="88" name="Google Shape;88;p17"/>
          <p:cNvSpPr/>
          <p:nvPr/>
        </p:nvSpPr>
        <p:spPr>
          <a:xfrm>
            <a:off x="1888875" y="4054000"/>
            <a:ext cx="4485600" cy="17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Activation function</a:t>
            </a:r>
            <a:endParaRPr/>
          </a:p>
        </p:txBody>
      </p:sp>
      <p:sp>
        <p:nvSpPr>
          <p:cNvPr id="94" name="Google Shape;94;p18"/>
          <p:cNvSpPr txBox="1"/>
          <p:nvPr/>
        </p:nvSpPr>
        <p:spPr>
          <a:xfrm>
            <a:off x="1020750" y="4000725"/>
            <a:ext cx="7102500" cy="6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We found minimal differences in in-batch and out-of-batch MAE values relative to baseline</a:t>
            </a:r>
            <a:endParaRPr sz="16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95" name="Google Shape;95;p18"/>
          <p:cNvPicPr preferRelativeResize="0"/>
          <p:nvPr/>
        </p:nvPicPr>
        <p:blipFill>
          <a:blip r:embed="rId3">
            <a:alphaModFix/>
          </a:blip>
          <a:stretch>
            <a:fillRect/>
          </a:stretch>
        </p:blipFill>
        <p:spPr>
          <a:xfrm>
            <a:off x="793629" y="1629050"/>
            <a:ext cx="7461483" cy="1760350"/>
          </a:xfrm>
          <a:prstGeom prst="rect">
            <a:avLst/>
          </a:prstGeom>
          <a:noFill/>
          <a:ln>
            <a:noFill/>
          </a:ln>
        </p:spPr>
      </p:pic>
      <p:sp>
        <p:nvSpPr>
          <p:cNvPr id="96" name="Google Shape;96;p18"/>
          <p:cNvSpPr/>
          <p:nvPr/>
        </p:nvSpPr>
        <p:spPr>
          <a:xfrm>
            <a:off x="1078875" y="2608025"/>
            <a:ext cx="5814900" cy="204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State representation</a:t>
            </a:r>
            <a:endParaRPr/>
          </a:p>
        </p:txBody>
      </p:sp>
      <p:pic>
        <p:nvPicPr>
          <p:cNvPr id="102" name="Google Shape;102;p19"/>
          <p:cNvPicPr preferRelativeResize="0"/>
          <p:nvPr/>
        </p:nvPicPr>
        <p:blipFill>
          <a:blip r:embed="rId3">
            <a:alphaModFix/>
          </a:blip>
          <a:stretch>
            <a:fillRect/>
          </a:stretch>
        </p:blipFill>
        <p:spPr>
          <a:xfrm>
            <a:off x="152400" y="1017725"/>
            <a:ext cx="8839200" cy="35458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Conclusion/Future Work</a:t>
            </a:r>
            <a:endParaRPr/>
          </a:p>
        </p:txBody>
      </p:sp>
      <p:sp>
        <p:nvSpPr>
          <p:cNvPr id="108" name="Google Shape;10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similar in-batch and out-of-batch Q-value changes in DQN</a:t>
            </a:r>
            <a:endParaRPr/>
          </a:p>
          <a:p>
            <a:pPr indent="-342900" lvl="0" marL="457200" rtl="0" algn="l">
              <a:spcBef>
                <a:spcPts val="0"/>
              </a:spcBef>
              <a:spcAft>
                <a:spcPts val="0"/>
              </a:spcAft>
              <a:buSzPts val="1800"/>
              <a:buChar char="-"/>
            </a:pPr>
            <a:r>
              <a:rPr lang="en"/>
              <a:t>state representation and activation function have </a:t>
            </a:r>
            <a:r>
              <a:rPr lang="en"/>
              <a:t>largest effect on out-of-batch Q-values</a:t>
            </a:r>
            <a:endParaRPr/>
          </a:p>
          <a:p>
            <a:pPr indent="-342900" lvl="0" marL="457200" rtl="0" algn="l">
              <a:spcBef>
                <a:spcPts val="0"/>
              </a:spcBef>
              <a:spcAft>
                <a:spcPts val="0"/>
              </a:spcAft>
              <a:buSzPts val="1800"/>
              <a:buChar char="-"/>
            </a:pPr>
            <a:r>
              <a:rPr lang="en"/>
              <a:t>better metrics needed</a:t>
            </a:r>
            <a:endParaRPr/>
          </a:p>
          <a:p>
            <a:pPr indent="-342900" lvl="0" marL="457200" rtl="0" algn="l">
              <a:spcBef>
                <a:spcPts val="0"/>
              </a:spcBef>
              <a:spcAft>
                <a:spcPts val="0"/>
              </a:spcAft>
              <a:buSzPts val="1800"/>
              <a:buChar char="-"/>
            </a:pPr>
            <a:r>
              <a:rPr lang="en"/>
              <a:t>exploration into theory behind parameter changes in DQN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